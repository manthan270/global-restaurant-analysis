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notesSlides/notesSlide12.xml" ContentType="application/vnd.openxmlformats-officedocument.presentationml.notesSlide+xml"/>
  <Override PartName="/ppt/charts/chart7.xml" ContentType="application/vnd.openxmlformats-officedocument.drawingml.chart+xml"/>
  <Override PartName="/ppt/notesSlides/notesSlide6.xml" ContentType="application/vnd.openxmlformats-officedocument.presentationml.notesSlide+xml"/>
  <Default Extension="xlsx" ContentType="application/vnd.openxmlformats-officedocument.spreadsheetml.sheet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-396" y="-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roundedCorners val="1"/>
  <c:chart>
    <c:autoTitleDeleted val="1"/>
    <c:plotArea>
      <c:layout/>
      <c:lineChart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New Restaurants</c:v>
                </c:pt>
              </c:strCache>
            </c:strRef>
          </c:tx>
          <c:spPr>
            <a:ln w="38100" cap="flat">
              <a:solidFill>
                <a:srgbClr val="E2374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23744"/>
              </a:solidFill>
              <a:ln w="9525" cap="flat">
                <a:solidFill>
                  <a:srgbClr val="E2374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sz="1000" b="0" i="0" u="none" strike="noStrike">
                    <a:solidFill>
                      <a:srgbClr val="2B2B2B"/>
                    </a:solidFill>
                    <a:latin typeface="Calibri"/>
                  </a:defRPr>
                </a:pPr>
                <a:endParaRPr lang="en-US"/>
              </a:p>
            </c:txPr>
            <c:dLblPos val="t"/>
            <c:showVal val="1"/>
          </c:dLbls>
          <c:cat>
            <c:strRef>
              <c:f>Sheet1!$A$2:$A$10</c:f>
              <c:strCache>
                <c:ptCount val="9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1080</c:v>
                </c:pt>
                <c:pt idx="1">
                  <c:v>1098</c:v>
                </c:pt>
                <c:pt idx="2">
                  <c:v>1022</c:v>
                </c:pt>
                <c:pt idx="3">
                  <c:v>1061</c:v>
                </c:pt>
                <c:pt idx="4">
                  <c:v>1051</c:v>
                </c:pt>
                <c:pt idx="5">
                  <c:v>1024</c:v>
                </c:pt>
                <c:pt idx="6">
                  <c:v>1027</c:v>
                </c:pt>
                <c:pt idx="7">
                  <c:v>1086</c:v>
                </c:pt>
                <c:pt idx="8">
                  <c:v>1102</c:v>
                </c:pt>
              </c:numCache>
            </c:numRef>
          </c:val>
        </c:ser>
        <c:dLbls>
          <c:showVal val="1"/>
        </c:dLbls>
        <c:marker val="1"/>
        <c:axId val="165169024"/>
        <c:axId val="165170560"/>
      </c:lineChart>
      <c:catAx>
        <c:axId val="165169024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5B5B"/>
                </a:solidFill>
                <a:latin typeface="Calibri"/>
              </a:defRPr>
            </a:pPr>
            <a:endParaRPr lang="en-US"/>
          </a:p>
        </c:txPr>
        <c:crossAx val="165170560"/>
        <c:crosses val="autoZero"/>
        <c:auto val="1"/>
        <c:lblAlgn val="ctr"/>
        <c:lblOffset val="100"/>
        <c:noMultiLvlLbl val="1"/>
      </c:catAx>
      <c:valAx>
        <c:axId val="165170560"/>
        <c:scaling>
          <c:orientation val="minMax"/>
          <c:max val="1120"/>
          <c:min val="980"/>
        </c:scaling>
        <c:axPos val="l"/>
        <c:majorGridlines>
          <c:spPr>
            <a:ln w="1270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5B5B"/>
                </a:solidFill>
                <a:latin typeface="Calibri"/>
              </a:defRPr>
            </a:pPr>
            <a:endParaRPr lang="en-US"/>
          </a:p>
        </c:txPr>
        <c:crossAx val="1651690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autoTitleDeleted val="1"/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Restaurants</c:v>
                </c:pt>
              </c:strCache>
            </c:strRef>
          </c:tx>
          <c:spPr>
            <a:solidFill>
              <a:srgbClr val="E23744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900" b="0" i="0" u="none" strike="noStrike">
                    <a:solidFill>
                      <a:srgbClr val="5B5B5B"/>
                    </a:solidFill>
                    <a:latin typeface="Calibri"/>
                  </a:defRPr>
                </a:pPr>
                <a:endParaRPr lang="en-US"/>
              </a:p>
            </c:txPr>
            <c:showVal val="1"/>
          </c:dLbls>
          <c:cat>
            <c:strRef>
              <c:f>Sheet1!$A$2:$A$16</c:f>
              <c:strCache>
                <c:ptCount val="15"/>
                <c:pt idx="0">
                  <c:v>India</c:v>
                </c:pt>
                <c:pt idx="1">
                  <c:v>United States</c:v>
                </c:pt>
                <c:pt idx="2">
                  <c:v>United Kingdom</c:v>
                </c:pt>
                <c:pt idx="3">
                  <c:v>South Africa</c:v>
                </c:pt>
                <c:pt idx="4">
                  <c:v>UAE</c:v>
                </c:pt>
                <c:pt idx="5">
                  <c:v>Brazil</c:v>
                </c:pt>
                <c:pt idx="6">
                  <c:v>New Zealand</c:v>
                </c:pt>
                <c:pt idx="7">
                  <c:v>Turkey</c:v>
                </c:pt>
                <c:pt idx="8">
                  <c:v>Australia</c:v>
                </c:pt>
                <c:pt idx="9">
                  <c:v>Philippines</c:v>
                </c:pt>
                <c:pt idx="10">
                  <c:v>Indonesia</c:v>
                </c:pt>
                <c:pt idx="11">
                  <c:v>Sri Lanka</c:v>
                </c:pt>
                <c:pt idx="12">
                  <c:v>Singapore</c:v>
                </c:pt>
                <c:pt idx="13">
                  <c:v>Qatar</c:v>
                </c:pt>
                <c:pt idx="14">
                  <c:v>Canada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8652</c:v>
                </c:pt>
                <c:pt idx="1">
                  <c:v>434</c:v>
                </c:pt>
                <c:pt idx="2">
                  <c:v>80</c:v>
                </c:pt>
                <c:pt idx="3">
                  <c:v>60</c:v>
                </c:pt>
                <c:pt idx="4">
                  <c:v>60</c:v>
                </c:pt>
                <c:pt idx="5">
                  <c:v>60</c:v>
                </c:pt>
                <c:pt idx="6">
                  <c:v>40</c:v>
                </c:pt>
                <c:pt idx="7">
                  <c:v>34</c:v>
                </c:pt>
                <c:pt idx="8">
                  <c:v>24</c:v>
                </c:pt>
                <c:pt idx="9">
                  <c:v>22</c:v>
                </c:pt>
                <c:pt idx="10">
                  <c:v>21</c:v>
                </c:pt>
                <c:pt idx="11">
                  <c:v>20</c:v>
                </c:pt>
                <c:pt idx="12">
                  <c:v>20</c:v>
                </c:pt>
                <c:pt idx="13">
                  <c:v>20</c:v>
                </c:pt>
                <c:pt idx="14">
                  <c:v>4</c:v>
                </c:pt>
              </c:numCache>
            </c:numRef>
          </c:val>
        </c:ser>
        <c:dLbls>
          <c:showVal val="1"/>
        </c:dLbls>
        <c:axId val="165218176"/>
        <c:axId val="165219712"/>
      </c:barChart>
      <c:catAx>
        <c:axId val="165218176"/>
        <c:scaling>
          <c:orientation val="minMax"/>
        </c:scaling>
        <c:axPos val="l"/>
        <c:numFmt formatCode="General" sourceLinked="1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5B5B"/>
                </a:solidFill>
                <a:latin typeface="Calibri"/>
              </a:defRPr>
            </a:pPr>
            <a:endParaRPr lang="en-US"/>
          </a:p>
        </c:txPr>
        <c:crossAx val="165219712"/>
        <c:crosses val="autoZero"/>
        <c:auto val="1"/>
        <c:lblAlgn val="ctr"/>
        <c:lblOffset val="100"/>
        <c:noMultiLvlLbl val="1"/>
      </c:catAx>
      <c:valAx>
        <c:axId val="165219712"/>
        <c:scaling>
          <c:orientation val="minMax"/>
        </c:scaling>
        <c:axPos val="b"/>
        <c:majorGridlines>
          <c:spPr>
            <a:ln w="1270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5B5B"/>
                </a:solidFill>
                <a:latin typeface="Calibri"/>
              </a:defRPr>
            </a:pPr>
            <a:endParaRPr lang="en-US"/>
          </a:p>
        </c:txPr>
        <c:crossAx val="1652181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roundedCorners val="1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Restaurants</c:v>
                </c:pt>
              </c:strCache>
            </c:strRef>
          </c:tx>
          <c:spPr>
            <a:solidFill>
              <a:srgbClr val="E23744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1000" b="0" i="0" u="none" strike="noStrike">
                    <a:solidFill>
                      <a:srgbClr val="5B5B5B"/>
                    </a:solidFill>
                    <a:latin typeface="Calibri"/>
                  </a:defRPr>
                </a:pPr>
                <a:endParaRPr lang="en-US"/>
              </a:p>
            </c:txPr>
            <c:showVal val="1"/>
          </c:dLbls>
          <c:cat>
            <c:strRef>
              <c:f>Sheet1!$A$2:$A$11</c:f>
              <c:strCache>
                <c:ptCount val="10"/>
                <c:pt idx="0">
                  <c:v>North Indian</c:v>
                </c:pt>
                <c:pt idx="1">
                  <c:v>N. Indian, Chinese</c:v>
                </c:pt>
                <c:pt idx="2">
                  <c:v>Chinese</c:v>
                </c:pt>
                <c:pt idx="3">
                  <c:v>Fast Food</c:v>
                </c:pt>
                <c:pt idx="4">
                  <c:v>N. Indian, Mughlai</c:v>
                </c:pt>
                <c:pt idx="5">
                  <c:v>Cafe</c:v>
                </c:pt>
                <c:pt idx="6">
                  <c:v>Bakery</c:v>
                </c:pt>
                <c:pt idx="7">
                  <c:v>N.I., Mughlai, Chinese</c:v>
                </c:pt>
                <c:pt idx="8">
                  <c:v>Bakery, Desserts</c:v>
                </c:pt>
                <c:pt idx="9">
                  <c:v>Street Food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936</c:v>
                </c:pt>
                <c:pt idx="1">
                  <c:v>511</c:v>
                </c:pt>
                <c:pt idx="2">
                  <c:v>354</c:v>
                </c:pt>
                <c:pt idx="3">
                  <c:v>354</c:v>
                </c:pt>
                <c:pt idx="4">
                  <c:v>334</c:v>
                </c:pt>
                <c:pt idx="5">
                  <c:v>299</c:v>
                </c:pt>
                <c:pt idx="6">
                  <c:v>218</c:v>
                </c:pt>
                <c:pt idx="7">
                  <c:v>197</c:v>
                </c:pt>
                <c:pt idx="8">
                  <c:v>170</c:v>
                </c:pt>
                <c:pt idx="9">
                  <c:v>149</c:v>
                </c:pt>
              </c:numCache>
            </c:numRef>
          </c:val>
        </c:ser>
        <c:dLbls>
          <c:showVal val="1"/>
        </c:dLbls>
        <c:axId val="165284864"/>
        <c:axId val="165307136"/>
      </c:barChart>
      <c:catAx>
        <c:axId val="165284864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200000"/>
          <a:lstStyle/>
          <a:p>
            <a:pPr>
              <a:defRPr sz="950" b="0" i="0" u="none" strike="noStrike">
                <a:solidFill>
                  <a:srgbClr val="5B5B5B"/>
                </a:solidFill>
                <a:latin typeface="Calibri"/>
              </a:defRPr>
            </a:pPr>
            <a:endParaRPr lang="en-US"/>
          </a:p>
        </c:txPr>
        <c:crossAx val="165307136"/>
        <c:crosses val="autoZero"/>
        <c:auto val="1"/>
        <c:lblAlgn val="ctr"/>
        <c:lblOffset val="100"/>
        <c:noMultiLvlLbl val="1"/>
      </c:catAx>
      <c:valAx>
        <c:axId val="165307136"/>
        <c:scaling>
          <c:orientation val="minMax"/>
        </c:scaling>
        <c:axPos val="l"/>
        <c:majorGridlines>
          <c:spPr>
            <a:ln w="1270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5B5B"/>
                </a:solidFill>
                <a:latin typeface="Calibri"/>
              </a:defRPr>
            </a:pPr>
            <a:endParaRPr lang="en-US"/>
          </a:p>
        </c:txPr>
        <c:crossAx val="1652848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roundedCorners val="1"/>
  <c:chart>
    <c:autoTitleDeleted val="1"/>
    <c:plotArea>
      <c:layout/>
      <c:areaChart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Avg Cost (INR)</c:v>
                </c:pt>
              </c:strCache>
            </c:strRef>
          </c:tx>
          <c:spPr>
            <a:solidFill>
              <a:srgbClr val="E23744">
                <a:alpha val="35000"/>
              </a:srgbClr>
            </a:solidFill>
            <a:effectLst/>
          </c:spPr>
          <c:cat>
            <c:strRef>
              <c:f>Sheet1!$A$2:$A$15</c:f>
              <c:strCache>
                <c:ptCount val="14"/>
                <c:pt idx="0">
                  <c:v>Turkey</c:v>
                </c:pt>
                <c:pt idx="1">
                  <c:v>India</c:v>
                </c:pt>
                <c:pt idx="2">
                  <c:v>Sri Lanka</c:v>
                </c:pt>
                <c:pt idx="3">
                  <c:v>Australia</c:v>
                </c:pt>
                <c:pt idx="4">
                  <c:v>Indonesia</c:v>
                </c:pt>
                <c:pt idx="5">
                  <c:v>Brazil</c:v>
                </c:pt>
                <c:pt idx="6">
                  <c:v>South Africa</c:v>
                </c:pt>
                <c:pt idx="7">
                  <c:v>USA</c:v>
                </c:pt>
                <c:pt idx="8">
                  <c:v>Canada</c:v>
                </c:pt>
                <c:pt idx="9">
                  <c:v>Philippines</c:v>
                </c:pt>
                <c:pt idx="10">
                  <c:v>UAE</c:v>
                </c:pt>
                <c:pt idx="11">
                  <c:v>UK</c:v>
                </c:pt>
                <c:pt idx="12">
                  <c:v>Qatar</c:v>
                </c:pt>
                <c:pt idx="13">
                  <c:v>Singapore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177</c:v>
                </c:pt>
                <c:pt idx="1">
                  <c:v>623</c:v>
                </c:pt>
                <c:pt idx="2">
                  <c:v>689</c:v>
                </c:pt>
                <c:pt idx="3">
                  <c:v>1445</c:v>
                </c:pt>
                <c:pt idx="4">
                  <c:v>1518</c:v>
                </c:pt>
                <c:pt idx="5">
                  <c:v>2213</c:v>
                </c:pt>
                <c:pt idx="6">
                  <c:v>2279</c:v>
                </c:pt>
                <c:pt idx="7">
                  <c:v>2351</c:v>
                </c:pt>
                <c:pt idx="8">
                  <c:v>2377</c:v>
                </c:pt>
                <c:pt idx="9">
                  <c:v>2458</c:v>
                </c:pt>
                <c:pt idx="10">
                  <c:v>4072</c:v>
                </c:pt>
                <c:pt idx="11">
                  <c:v>5786</c:v>
                </c:pt>
                <c:pt idx="12">
                  <c:v>5531</c:v>
                </c:pt>
                <c:pt idx="13">
                  <c:v>10890</c:v>
                </c:pt>
              </c:numCache>
            </c:numRef>
          </c:val>
        </c:ser>
        <c:axId val="164708352"/>
        <c:axId val="164709888"/>
      </c:areaChart>
      <c:catAx>
        <c:axId val="164708352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"/>
          <a:lstStyle/>
          <a:p>
            <a:pPr>
              <a:defRPr sz="850" b="0" i="0" u="none" strike="noStrike">
                <a:solidFill>
                  <a:srgbClr val="5B5B5B"/>
                </a:solidFill>
                <a:latin typeface="Calibri"/>
              </a:defRPr>
            </a:pPr>
            <a:endParaRPr lang="en-US"/>
          </a:p>
        </c:txPr>
        <c:crossAx val="164709888"/>
        <c:crosses val="autoZero"/>
        <c:auto val="1"/>
        <c:lblAlgn val="ctr"/>
        <c:lblOffset val="100"/>
        <c:noMultiLvlLbl val="1"/>
      </c:catAx>
      <c:valAx>
        <c:axId val="164709888"/>
        <c:scaling>
          <c:orientation val="minMax"/>
        </c:scaling>
        <c:axPos val="l"/>
        <c:majorGridlines>
          <c:spPr>
            <a:ln w="1270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5B5B"/>
                </a:solidFill>
                <a:latin typeface="Calibri"/>
              </a:defRPr>
            </a:pPr>
            <a:endParaRPr lang="en-US"/>
          </a:p>
        </c:txPr>
        <c:crossAx val="1647083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</c:chart>
  <c:spPr>
    <a:noFill/>
    <a:ln>
      <a:noFill/>
    </a:ln>
    <a:effectLst/>
  </c:spPr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roundedCorners val="1"/>
  <c:chart>
    <c:autoTitleDeleted val="1"/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E23744"/>
            </a:solidFill>
            <a:effectLst/>
          </c:spPr>
          <c:dLbls>
            <c:numFmt formatCode="0.00" sourceLinked="0"/>
            <c:txPr>
              <a:bodyPr/>
              <a:lstStyle/>
              <a:p>
                <a:pPr>
                  <a:defRPr sz="900" b="0" i="0" u="none" strike="noStrike">
                    <a:solidFill>
                      <a:srgbClr val="5B5B5B"/>
                    </a:solidFill>
                    <a:latin typeface="Calibri"/>
                  </a:defRPr>
                </a:pPr>
                <a:endParaRPr lang="en-US"/>
              </a:p>
            </c:txPr>
            <c:showVal val="1"/>
          </c:dLbls>
          <c:cat>
            <c:strRef>
              <c:f>Sheet1!$A$2:$A$16</c:f>
              <c:strCache>
                <c:ptCount val="15"/>
                <c:pt idx="0">
                  <c:v>Philippines</c:v>
                </c:pt>
                <c:pt idx="1">
                  <c:v>Turkey</c:v>
                </c:pt>
                <c:pt idx="2">
                  <c:v>Indonesia</c:v>
                </c:pt>
                <c:pt idx="3">
                  <c:v>New Zealand</c:v>
                </c:pt>
                <c:pt idx="4">
                  <c:v>UAE</c:v>
                </c:pt>
                <c:pt idx="5">
                  <c:v>South Africa</c:v>
                </c:pt>
                <c:pt idx="6">
                  <c:v>UK</c:v>
                </c:pt>
                <c:pt idx="7">
                  <c:v>Qatar</c:v>
                </c:pt>
                <c:pt idx="8">
                  <c:v>USA</c:v>
                </c:pt>
                <c:pt idx="9">
                  <c:v>Sri Lanka</c:v>
                </c:pt>
                <c:pt idx="10">
                  <c:v>Brazil</c:v>
                </c:pt>
                <c:pt idx="11">
                  <c:v>Australia</c:v>
                </c:pt>
                <c:pt idx="12">
                  <c:v>Singapore</c:v>
                </c:pt>
                <c:pt idx="13">
                  <c:v>Canada</c:v>
                </c:pt>
                <c:pt idx="14">
                  <c:v>India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4.4700000000000024</c:v>
                </c:pt>
                <c:pt idx="1">
                  <c:v>4.3</c:v>
                </c:pt>
                <c:pt idx="2">
                  <c:v>4.3</c:v>
                </c:pt>
                <c:pt idx="3">
                  <c:v>4.26</c:v>
                </c:pt>
                <c:pt idx="4">
                  <c:v>4.2300000000000004</c:v>
                </c:pt>
                <c:pt idx="5">
                  <c:v>4.21</c:v>
                </c:pt>
                <c:pt idx="6">
                  <c:v>4.0999999999999996</c:v>
                </c:pt>
                <c:pt idx="7">
                  <c:v>4.0599999999999996</c:v>
                </c:pt>
                <c:pt idx="8">
                  <c:v>4.01</c:v>
                </c:pt>
                <c:pt idx="9">
                  <c:v>3.8699999999999997</c:v>
                </c:pt>
                <c:pt idx="10">
                  <c:v>3.8499999999999988</c:v>
                </c:pt>
                <c:pt idx="11">
                  <c:v>3.66</c:v>
                </c:pt>
                <c:pt idx="12">
                  <c:v>3.58</c:v>
                </c:pt>
                <c:pt idx="13">
                  <c:v>3.58</c:v>
                </c:pt>
                <c:pt idx="14">
                  <c:v>2.77</c:v>
                </c:pt>
              </c:numCache>
            </c:numRef>
          </c:val>
        </c:ser>
        <c:dLbls>
          <c:showVal val="1"/>
        </c:dLbls>
        <c:axId val="165459072"/>
        <c:axId val="165460608"/>
      </c:barChart>
      <c:catAx>
        <c:axId val="165459072"/>
        <c:scaling>
          <c:orientation val="minMax"/>
        </c:scaling>
        <c:axPos val="l"/>
        <c:numFmt formatCode="General" sourceLinked="1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5B5B"/>
                </a:solidFill>
                <a:latin typeface="Calibri"/>
              </a:defRPr>
            </a:pPr>
            <a:endParaRPr lang="en-US"/>
          </a:p>
        </c:txPr>
        <c:crossAx val="165460608"/>
        <c:crosses val="autoZero"/>
        <c:auto val="1"/>
        <c:lblAlgn val="ctr"/>
        <c:lblOffset val="100"/>
        <c:noMultiLvlLbl val="1"/>
      </c:catAx>
      <c:valAx>
        <c:axId val="165460608"/>
        <c:scaling>
          <c:orientation val="minMax"/>
          <c:max val="5"/>
        </c:scaling>
        <c:axPos val="b"/>
        <c:majorGridlines>
          <c:spPr>
            <a:ln w="1270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5B5B"/>
                </a:solidFill>
                <a:latin typeface="Calibri"/>
              </a:defRPr>
            </a:pPr>
            <a:endParaRPr lang="en-US"/>
          </a:p>
        </c:txPr>
        <c:crossAx val="1654590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Table Booking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spPr>
              <a:solidFill>
                <a:srgbClr val="D8D8D8"/>
              </a:solidFill>
              <a:effectLst/>
            </c:spPr>
          </c:dPt>
          <c:dPt>
            <c:idx val="1"/>
            <c:spPr>
              <a:solidFill>
                <a:srgbClr val="E23744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2B2B2B"/>
                      </a:solidFill>
                      <a:latin typeface="Calibri"/>
                    </a:defRPr>
                  </a:pPr>
                  <a:endParaRPr lang="en-US"/>
                </a:p>
              </c:txPr>
              <c:showPercent val="1"/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2B2B2B"/>
                      </a:solidFill>
                      <a:latin typeface="Calibri"/>
                    </a:defRPr>
                  </a:pPr>
                  <a:endParaRPr lang="en-US"/>
                </a:p>
              </c:txPr>
              <c:showPercent val="1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CatName val="1"/>
            <c:showPercent val="1"/>
          </c:dLbls>
          <c:cat>
            <c:strRef>
              <c:f>Sheet1!$A$2:$A$3</c:f>
              <c:strCache>
                <c:ptCount val="2"/>
                <c:pt idx="0">
                  <c:v>No Table Booking</c:v>
                </c:pt>
                <c:pt idx="1">
                  <c:v>Has Table Booking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8393</c:v>
                </c:pt>
                <c:pt idx="1">
                  <c:v>1158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layout/>
      <c:txPr>
        <a:bodyPr/>
        <a:lstStyle/>
        <a:p>
          <a:pPr>
            <a:defRPr sz="1100">
              <a:solidFill>
                <a:srgbClr val="5B5B5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Online Delivery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spPr>
              <a:solidFill>
                <a:srgbClr val="D8D8D8"/>
              </a:solidFill>
              <a:effectLst/>
            </c:spPr>
          </c:dPt>
          <c:dPt>
            <c:idx val="1"/>
            <c:spPr>
              <a:solidFill>
                <a:srgbClr val="E23744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2B2B2B"/>
                      </a:solidFill>
                      <a:latin typeface="Calibri"/>
                    </a:defRPr>
                  </a:pPr>
                  <a:endParaRPr lang="en-US"/>
                </a:p>
              </c:txPr>
              <c:showPercent val="1"/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2B2B2B"/>
                      </a:solidFill>
                      <a:latin typeface="Calibri"/>
                    </a:defRPr>
                  </a:pPr>
                  <a:endParaRPr lang="en-US"/>
                </a:p>
              </c:txPr>
              <c:showPercent val="1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CatName val="1"/>
            <c:showPercent val="1"/>
          </c:dLbls>
          <c:cat>
            <c:strRef>
              <c:f>Sheet1!$A$2:$A$3</c:f>
              <c:strCache>
                <c:ptCount val="2"/>
                <c:pt idx="0">
                  <c:v>No Online Delivery</c:v>
                </c:pt>
                <c:pt idx="1">
                  <c:v>Has Online Delivery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7100</c:v>
                </c:pt>
                <c:pt idx="1">
                  <c:v>2451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layout/>
      <c:txPr>
        <a:bodyPr/>
        <a:lstStyle/>
        <a:p>
          <a:pPr>
            <a:defRPr sz="1100">
              <a:solidFill>
                <a:srgbClr val="5B5B5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6217920" cy="6858000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2331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MARKET ANALYSIS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31520" y="269748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Zomato: Global Restaurant Analysis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31520" y="41605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Zomato should open its next restaurants — a data-driven expansion strategy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4983480"/>
            <a:ext cx="1097280" cy="0"/>
          </a:xfrm>
          <a:prstGeom prst="line">
            <a:avLst/>
          </a:prstGeom>
          <a:noFill/>
          <a:ln w="38100">
            <a:solidFill>
              <a:srgbClr val="E237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5166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Manthan</a:t>
            </a:r>
            <a:r>
              <a:rPr lang="en-US" sz="13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Gadegone</a:t>
            </a:r>
            <a:endParaRPr lang="en-US" sz="1300" dirty="0"/>
          </a:p>
        </p:txBody>
      </p:sp>
      <p:pic>
        <p:nvPicPr>
          <p:cNvPr id="11" name="Picture 10" descr="ChatGPT Image Aug 31, 2026, 06_53_08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0"/>
            <a:ext cx="632238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96939" y="0"/>
            <a:ext cx="54864" cy="685800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4" name="Text 1"/>
          <p:cNvSpPr/>
          <p:nvPr/>
        </p:nvSpPr>
        <p:spPr>
          <a:xfrm>
            <a:off x="502920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0" y="9601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Zomato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029200" y="1965960"/>
            <a:ext cx="6492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largest platform — </a:t>
            </a:r>
            <a:r>
              <a:rPr lang="en-US" sz="15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country's biggest online food ordering and delivery platform</a:t>
            </a:r>
            <a:r>
              <a:rPr lang="en-US" sz="1500" dirty="0" smtClean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restaurant network — </a:t>
            </a:r>
            <a:r>
              <a:rPr lang="en-US" sz="15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restaurants across the country spanning a wide range of cuisines</a:t>
            </a:r>
            <a:r>
              <a:rPr lang="en-US" sz="1500" dirty="0" smtClean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goal — </a:t>
            </a:r>
            <a:r>
              <a:rPr lang="en-US" sz="15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cuisines and locations drive the highest customer satisfaction, to guide expansion</a:t>
            </a:r>
            <a:r>
              <a:rPr lang="en-US" sz="1500" dirty="0" smtClean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9" name="Picture 8" descr="ChatGPT Image Aug 31, 2026, 06_57_47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97280" cy="0"/>
          </a:xfrm>
          <a:prstGeom prst="line">
            <a:avLst/>
          </a:prstGeom>
          <a:noFill/>
          <a:ln w="38100">
            <a:solidFill>
              <a:srgbClr val="E23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377440"/>
            <a:ext cx="10698480" cy="3017520"/>
          </a:xfrm>
          <a:prstGeom prst="roundRect">
            <a:avLst>
              <a:gd name="adj" fmla="val 1818"/>
            </a:avLst>
          </a:prstGeom>
          <a:solidFill>
            <a:srgbClr val="383838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69748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hired as a consultant data analyst by Zomato, where the team is looking for expansion and to open more restaurants.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37490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task: 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strategies and suggestions for opening newer restaurants, backed by data.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4F4F4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2704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23744"/>
                </a:solidFill>
                <a:ea typeface="Cambria" pitchFamily="34" charset="-122"/>
                <a:cs typeface="Cambria" pitchFamily="34" charset="-120"/>
              </a:rPr>
              <a:t>15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762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91840" y="14173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4F4F4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52704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23744"/>
                </a:solidFill>
                <a:ea typeface="Cambria" pitchFamily="34" charset="-122"/>
                <a:cs typeface="Cambria" pitchFamily="34" charset="-120"/>
              </a:rPr>
              <a:t>9,551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83280" y="21762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35040" y="14173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4F4F4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52704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23744"/>
                </a:solidFill>
                <a:ea typeface="Cambria" pitchFamily="34" charset="-122"/>
                <a:cs typeface="Cambria" pitchFamily="34" charset="-120"/>
              </a:rPr>
              <a:t>2.89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26480" y="21762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RATING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778240" y="14173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4F4F4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152704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23744"/>
                </a:solidFill>
                <a:ea typeface="Cambria" pitchFamily="34" charset="-122"/>
                <a:cs typeface="Cambria" pitchFamily="34" charset="-120"/>
              </a:rPr>
              <a:t>14,98,645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869680" y="21762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VOTES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926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STRUCTURE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291840"/>
            <a:ext cx="5303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tables: Raw Data and Country Description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attributes covering restaurant and customer data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data: Locality, City, Address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engagement data: Ratings, Votes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09360" y="2926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OPERATIONAL 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3291840"/>
            <a:ext cx="5303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9,551 restaurants across 15 countries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data: Online delivery, Table booking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metrics tracked per restaurant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for all downstream analysis in this report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GOT HERE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4813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114800" y="1463040"/>
            <a:ext cx="7452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dataset of 9,551 restaurants across 15 countries with restaurant locations and service types.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30552"/>
            <a:ext cx="1088136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50008"/>
            <a:ext cx="502920" cy="502920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50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3225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Normalization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114800" y="2304288"/>
            <a:ext cx="7452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'Average Cost for Two' to a standard INR currency to compare pricing worldwide.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1088136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191256"/>
            <a:ext cx="502920" cy="502920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191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31638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114800" y="3145536"/>
            <a:ext cx="7452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the data by extracting year and month values from the date keys.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813048"/>
            <a:ext cx="1088136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032504"/>
            <a:ext cx="502920" cy="502920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032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40050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114800" y="3986784"/>
            <a:ext cx="7452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pivot tables to calculate overall average rating (~2.89) across ~1.5 million total votes.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654296"/>
            <a:ext cx="1088136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873752"/>
            <a:ext cx="502920" cy="502920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873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80160" y="4846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114800" y="4828032"/>
            <a:ext cx="7452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dynamic dashboard with KPIs, geographic bar charts, and pie charts of delivery trends and favorite cuisines.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Trajectory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9494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12344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OF RESTAURANTS OPENED EACH YEAR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72400" y="1965960"/>
            <a:ext cx="3931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growth </a:t>
            </a:r>
            <a:r>
              <a:rPr lang="en-US" sz="13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new restaurant openings from 2010 through 2018</a:t>
            </a:r>
            <a:r>
              <a:rPr lang="en-US" sz="1300" dirty="0" smtClean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year: 2018 </a:t>
            </a:r>
            <a:r>
              <a:rPr lang="en-US" sz="13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 the highest number of new restaurants (1,102</a:t>
            </a:r>
            <a:r>
              <a:rPr lang="en-US" sz="1300" dirty="0" smtClean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300" dirty="0">
              <a:solidFill>
                <a:srgbClr val="5B5B5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year: 2012 </a:t>
            </a:r>
            <a:r>
              <a:rPr lang="en-US" sz="13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the fewest new restaurant openings</a:t>
            </a:r>
            <a:r>
              <a:rPr lang="en-US" sz="1300" dirty="0" smtClean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PRESENCE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Footprint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71323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11704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RESTAURANTS, COUNTRY-WISE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95528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955280" y="187452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market: </a:t>
            </a: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leads with 8,652 restaurants — by far the largest share</a:t>
            </a:r>
            <a:r>
              <a:rPr lang="en-US" sz="1250" dirty="0" smtClean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presence: </a:t>
            </a: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United States follows distantly with 434 restaurants</a:t>
            </a:r>
            <a:r>
              <a:rPr lang="en-US" sz="1250" dirty="0" smtClean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footprint: </a:t>
            </a: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has the fewest restaurants, just 4</a:t>
            </a:r>
            <a:r>
              <a:rPr lang="en-US" sz="1250" dirty="0" smtClean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Culinary Trends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108813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1444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CUISINES BY RESTAURANT COUNT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58064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Indian leads </a:t>
            </a: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most popular cuisine with 936 restaurants, followed by Chinese and Fast </a:t>
            </a:r>
            <a:r>
              <a:rPr lang="en-US" sz="1250" dirty="0" smtClean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demand: </a:t>
            </a: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popularity of the “North Indian, Chinese” combination points to strong appetite for fusion </a:t>
            </a:r>
            <a:r>
              <a:rPr lang="en-US" sz="1250" dirty="0" smtClean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Analysis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71323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12618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FOR TWO, COUNTRY-WISE (INR)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95528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955280" y="196596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expensive: </a:t>
            </a: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has the highest average cost for two</a:t>
            </a:r>
            <a:r>
              <a:rPr lang="en-US" sz="1250" dirty="0" smtClean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affordable: </a:t>
            </a: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Turkey is the most budget-friendly market</a:t>
            </a:r>
            <a:r>
              <a:rPr lang="en-US" sz="1250" dirty="0" smtClean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average: </a:t>
            </a: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average cost for two is Rs. 838.99</a:t>
            </a:r>
            <a:r>
              <a:rPr lang="en-US" sz="1250" dirty="0" smtClean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Satisfaction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71323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11704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 BY COUNTRY (OUT OF 5)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95528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955280" y="187452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rating: </a:t>
            </a: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has the least average rating at 2.77, despite being the largest market</a:t>
            </a:r>
            <a:r>
              <a:rPr lang="en-US" sz="1250" dirty="0" smtClean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rating: </a:t>
            </a: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Philippines leads with an average rating of 4.47</a:t>
            </a:r>
            <a:r>
              <a:rPr lang="en-US" sz="1250" dirty="0" smtClean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AVAILABILITY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Booking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822960" y="1554480"/>
          <a:ext cx="512064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30632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23744"/>
                </a:solidFill>
                <a:ea typeface="Cambria" pitchFamily="34" charset="-122"/>
                <a:cs typeface="Cambria" pitchFamily="34" charset="-120"/>
              </a:rPr>
              <a:t>12</a:t>
            </a:r>
            <a:r>
              <a:rPr lang="en-US" sz="30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22960" y="3566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TABLE BOOKING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9224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SAY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92240" y="214884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9,551 restaurants </a:t>
            </a:r>
            <a:r>
              <a:rPr lang="en-US" sz="14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15 countries make up the full dataset</a:t>
            </a:r>
            <a:r>
              <a:rPr lang="en-US" sz="1400" dirty="0" smtClean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1,158 restaurants (12%) </a:t>
            </a:r>
            <a:r>
              <a:rPr lang="en-US" sz="14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table booking</a:t>
            </a:r>
            <a:r>
              <a:rPr lang="en-US" sz="1400" dirty="0" smtClean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8,393 restaurants (88%) </a:t>
            </a:r>
            <a:r>
              <a:rPr lang="en-US" sz="14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currently offer table booking — a major expansion opportunity</a:t>
            </a:r>
            <a:r>
              <a:rPr lang="en-US" sz="1400" dirty="0" smtClean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AVAILABILITY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Delivery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822960" y="1554480"/>
          <a:ext cx="512064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30632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23744"/>
                </a:solidFill>
                <a:ea typeface="Cambria" pitchFamily="34" charset="-122"/>
                <a:cs typeface="Cambria" pitchFamily="34" charset="-120"/>
              </a:rPr>
              <a:t>26</a:t>
            </a:r>
            <a:r>
              <a:rPr lang="en-US" sz="30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22960" y="3566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ONLINE DELIVERY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9224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SAY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92240" y="214884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9,551 restaurants </a:t>
            </a:r>
            <a:r>
              <a:rPr lang="en-US" sz="14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15 countries make up the full dataset</a:t>
            </a:r>
            <a:r>
              <a:rPr lang="en-US" sz="1400" dirty="0" smtClean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2,451 restaurants (26%) </a:t>
            </a:r>
            <a:r>
              <a:rPr lang="en-US" sz="14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online delivery</a:t>
            </a:r>
            <a:r>
              <a:rPr lang="en-US" sz="1400" dirty="0" smtClean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7,100 restaurants (74%) </a:t>
            </a:r>
            <a:r>
              <a:rPr lang="en-US" sz="14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currently offer online delivery — a clear digital growth lever</a:t>
            </a:r>
            <a:r>
              <a:rPr lang="en-US" sz="1400" dirty="0" smtClean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RECOMMEND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29000" cy="3931920"/>
          </a:xfrm>
          <a:prstGeom prst="roundRect">
            <a:avLst>
              <a:gd name="adj" fmla="val 1600"/>
            </a:avLst>
          </a:prstGeom>
          <a:solidFill>
            <a:srgbClr val="38383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Expansion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5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online delivery and table booking to the remaining restaurants that don't yet offer them.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51960" y="1874520"/>
            <a:ext cx="3429000" cy="3931920"/>
          </a:xfrm>
          <a:prstGeom prst="roundRect">
            <a:avLst>
              <a:gd name="adj" fmla="val 1600"/>
            </a:avLst>
          </a:prstGeom>
          <a:solidFill>
            <a:srgbClr val="383838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21488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26280" y="29260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High-Value Markets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26280" y="379476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5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premium branding on the Philippines, Turkey, and Indonesia — markets with higher customer satisfaction.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55280" y="1874520"/>
            <a:ext cx="3429000" cy="3931920"/>
          </a:xfrm>
          <a:prstGeom prst="roundRect">
            <a:avLst>
              <a:gd name="adj" fmla="val 1600"/>
            </a:avLst>
          </a:prstGeom>
          <a:solidFill>
            <a:srgbClr val="38383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21488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229600" y="29260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Quality in India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0" y="379476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5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is the biggest market; raising its average rating should be the top priority for long-term growth.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REPORTING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9" name="Picture 8" descr="Screenshot 2026-09-03 1042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655" y="1311155"/>
            <a:ext cx="11554691" cy="42356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high vote counts. </a:t>
            </a:r>
            <a:r>
              <a:rPr lang="en-US" sz="16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choosing a location for a new restaurant, prioritize cities with high vote counts — a signal of an active, engaged customer base</a:t>
            </a:r>
            <a:r>
              <a:rPr lang="en-US" sz="1600" dirty="0" smtClean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cost and rating. </a:t>
            </a:r>
            <a:r>
              <a:rPr lang="en-US" sz="16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or cities with a high average cost, paired with high average ratings and fewer existing restaurants, are best suited for new openings</a:t>
            </a:r>
            <a:r>
              <a:rPr lang="en-US" sz="1600" dirty="0" smtClean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markets. </a:t>
            </a:r>
            <a:r>
              <a:rPr lang="en-US" sz="16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Indonesia, Canada, and the Philippines stand out as the strongest candidates for expansion based on this analysis</a:t>
            </a:r>
            <a:r>
              <a:rPr lang="en-US" sz="1600" dirty="0" smtClean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547208" y="3703320"/>
            <a:ext cx="1097280" cy="0"/>
          </a:xfrm>
          <a:prstGeom prst="line">
            <a:avLst/>
          </a:prstGeom>
          <a:noFill/>
          <a:ln w="38100">
            <a:solidFill>
              <a:srgbClr val="E23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38862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851</Words>
  <Application>Microsoft Office PowerPoint</Application>
  <PresentationFormat>Custom</PresentationFormat>
  <Paragraphs>167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ASUS</cp:lastModifiedBy>
  <cp:revision>9</cp:revision>
  <dcterms:created xsi:type="dcterms:W3CDTF">2026-08-31T03:02:44Z</dcterms:created>
  <dcterms:modified xsi:type="dcterms:W3CDTF">2026-09-04T02:53:41Z</dcterms:modified>
</cp:coreProperties>
</file>